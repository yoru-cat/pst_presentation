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2514600"/>
            <a:ext cx="897940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ZIA'S PAKISTAN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E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Politics and Stability in a Frontline State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by Craig Baxter  |  Published 1985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743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DISCUSSION PRESENTATION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32461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multi-author analysis of Zia ul-Haq's martial law regime, key interest groups,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performance, military power, Afghan refugees, and regime legitimacy.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452628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526280"/>
            <a:ext cx="109728" cy="109728"/>
          </a:xfrm>
          <a:prstGeom prst="ellipse">
            <a:avLst/>
          </a:prstGeom>
          <a:solidFill>
            <a:srgbClr val="5A6B7A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526280"/>
            <a:ext cx="109728" cy="109728"/>
          </a:xfrm>
          <a:prstGeom prst="ellipse">
            <a:avLst/>
          </a:prstGeom>
          <a:solidFill>
            <a:srgbClr val="5A6B7A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4526280"/>
            <a:ext cx="109728" cy="109728"/>
          </a:xfrm>
          <a:prstGeom prst="ellipse">
            <a:avLst/>
          </a:prstGeom>
          <a:solidFill>
            <a:srgbClr val="5A6B7A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4526280"/>
            <a:ext cx="109728" cy="109728"/>
          </a:xfrm>
          <a:prstGeom prst="ellipse">
            <a:avLst/>
          </a:prstGeom>
          <a:solidFill>
            <a:srgbClr val="5A6B7A"/>
          </a:solidFill>
          <a:ln w="12700">
            <a:solidFill>
              <a:srgbClr val="0D2B3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THE BOOK &amp; EDITOR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356616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Published: </a:t>
            </a:r>
            <a:pPr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1985, Westview Press
</a:t>
            </a:r>
            <a:pPr indent="0" marL="0">
              <a:buNone/>
            </a:pPr>
            <a:r>
              <a:rPr lang="en-US" sz="12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Commissioned by: </a:t>
            </a:r>
            <a:pPr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Dept. of State / Middle East Institute
</a:t>
            </a:r>
            <a:pPr indent="0" marL="0">
              <a:buNone/>
            </a:pPr>
            <a:r>
              <a:rPr lang="en-US" sz="12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Scope: </a:t>
            </a:r>
            <a:pPr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Zia's 8-year martial law regime through the lens of key interest groups
</a:t>
            </a:r>
            <a:pPr indent="0" marL="0">
              <a:buNone/>
            </a:pPr>
            <a:r>
              <a:rPr lang="en-US" sz="12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Chapters by: </a:t>
            </a:r>
            <a:pPr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LaPorte, Kennedy, Adams, Jones, Farr &amp; Baxter
</a:t>
            </a:r>
            <a:pPr indent="0" marL="0">
              <a:buNone/>
            </a:pPr>
            <a:r>
              <a:rPr lang="en-US" sz="12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Focus: </a:t>
            </a:r>
            <a:pPr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groups, rural structure, economy, military, Afghan refugees, and legitimacy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356616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CRAIG BAXTER — EDITOR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55448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Retired U.S. Foreign Service Officer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Stationed in South Asia and Africa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Professor of Politics &amp; History,
  Juniata College, Pennsylvania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Principal investigator for the
  Middle East Institute project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 of Bangladesh: A New Nation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an Old Setting (1984)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Westview Special Studies on South and Southeast Asia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CONTEXT: HOW ZIA CAME TO POWER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234440"/>
          </a:xfrm>
          <a:prstGeom prst="rect">
            <a:avLst/>
          </a:prstGeom>
          <a:solidFill>
            <a:srgbClr val="152B3D"/>
          </a:solidFill>
          <a:ln w="12700">
            <a:solidFill>
              <a:srgbClr val="0E8D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640080" cy="123444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80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9418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Elections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26187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Bhutto's PPP wins national elections. Opposition Pakistan National Alliance (PNA) claims rigging; street protests erupt.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4114800" cy="1234440"/>
          </a:xfrm>
          <a:prstGeom prst="rect">
            <a:avLst/>
          </a:prstGeom>
          <a:solidFill>
            <a:srgbClr val="152B3D"/>
          </a:solidFill>
          <a:ln w="12700">
            <a:solidFill>
              <a:srgbClr val="0E8D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40280"/>
            <a:ext cx="640080" cy="123444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651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23134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5 — Military Coup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63347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Zia ul-Haq, appointed by Bhutto himself, overthrows the government. Declares himself Chief Martial Law Administrator.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611880"/>
            <a:ext cx="4114800" cy="1234440"/>
          </a:xfrm>
          <a:prstGeom prst="rect">
            <a:avLst/>
          </a:prstGeom>
          <a:solidFill>
            <a:srgbClr val="152B3D"/>
          </a:solidFill>
          <a:ln w="12700">
            <a:solidFill>
              <a:srgbClr val="0E8D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611880"/>
            <a:ext cx="640080" cy="123444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023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36850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 Assumes Presidency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00507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promises 90-day caretaker rule and elections. Instead, begins an eight-year martial law regime.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114800" cy="1234440"/>
          </a:xfrm>
          <a:prstGeom prst="rect">
            <a:avLst/>
          </a:prstGeom>
          <a:solidFill>
            <a:srgbClr val="152B3D"/>
          </a:solidFill>
          <a:ln w="12700">
            <a:solidFill>
              <a:srgbClr val="0E8D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68680"/>
            <a:ext cx="640080" cy="123444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280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9418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Bhutto Executed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126187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Zulfiqar Ali Bhutto hanged on April 4 for alleged instigation of murder. Creates deep Sindhi grievances against Zia.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4114800" cy="1234440"/>
          </a:xfrm>
          <a:prstGeom prst="rect">
            <a:avLst/>
          </a:prstGeom>
          <a:solidFill>
            <a:srgbClr val="152B3D"/>
          </a:solidFill>
          <a:ln w="12700">
            <a:solidFill>
              <a:srgbClr val="0E8D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40280"/>
            <a:ext cx="640080" cy="123444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651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23134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Soviet Invasion of Afghanistan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263347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December: USSR invades Afghanistan. Pakistan becomes a frontline state. Zia gains US and international backing.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14800" cy="1234440"/>
          </a:xfrm>
          <a:prstGeom prst="rect">
            <a:avLst/>
          </a:prstGeom>
          <a:solidFill>
            <a:srgbClr val="152B3D"/>
          </a:solidFill>
          <a:ln w="12700">
            <a:solidFill>
              <a:srgbClr val="0E8D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11880"/>
            <a:ext cx="640080" cy="123444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023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36850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Partyless Elections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400507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Assembly elections held Feb 25 on non-partisan basis. MRD boycotts; government claims 52% turnout.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ZIA'S TRANSFORMATION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2697480" cy="397764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697480" cy="475488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144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ISLAMIZATION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Introduced Nizam-i-Mustafa (rule of the Prophet)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20574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Imposed shariah courts alongside regular courts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6334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Implemented zakat &amp; ushr taxation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320954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Islamic punishments: whipping introduced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37856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Proposed interest-free banking (1985)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914400"/>
            <a:ext cx="2697480" cy="39776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914400"/>
            <a:ext cx="2697480" cy="475488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9144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POLITICS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64408" y="14813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Banned political parties (1979)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64408" y="20574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Created appointed advisory body: Majlis-i-Shura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64408" y="26334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Local Bodies Ordinances (1979, 1983)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64408" y="320954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Held partyless elections Feb 1985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64408" y="37856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Suppressed Movement for Restoration of Democracy (MRD)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89320" y="914400"/>
            <a:ext cx="2697480" cy="397764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914400"/>
            <a:ext cx="2697480" cy="475488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9048" y="9144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POLICY SHIFT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99048" y="14813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Pakistan became frontline state after Soviet Afghan invasion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99048" y="20574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Secured massive US military/economic aid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99048" y="26334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Deepened ties with Middle East &amp; Gulf states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99048" y="320954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Prominent role in Islamic Conference Organization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99048" y="37856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Joined South Asia Regional Cooperation (SARC)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Baxter: Zia transformed from a 'guardian' to a 'ruler' — effecting deep political and socioeconomic change.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GROUPS &amp; THE ZIA REGIME  —  LaPorte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1982, 29% of Pakistan's 87M people lived in urban areas — up 7% since 1960.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88920" cy="3657600"/>
          </a:xfrm>
          <a:prstGeom prst="rect">
            <a:avLst/>
          </a:prstGeom>
          <a:solidFill>
            <a:srgbClr val="11253A"/>
          </a:solidFill>
          <a:ln w="254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88920" cy="475488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UPPER CLASS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Conditional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057400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Traditional landed elite (zamindars, waderas)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596896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Elite civil service &amp; senior military officers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3136392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Industrial-commercial families (the '22 families')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675888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Zia but not enthusiastically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4215384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Fear return of 'Bhuttoism' more than they love Zia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72968" y="1188720"/>
            <a:ext cx="2788920" cy="3657600"/>
          </a:xfrm>
          <a:prstGeom prst="rect">
            <a:avLst/>
          </a:prstGeom>
          <a:solidFill>
            <a:srgbClr val="11253A"/>
          </a:solidFill>
          <a:ln w="254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188720"/>
            <a:ext cx="278892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1887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MIDDLE CLASS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64408" y="17190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Mixed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82696" y="2057400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Professionals, lawyers, teachers, engineers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82696" y="2596896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Small/medium businessmen (bazaar wallas)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82696" y="3136392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Clerics (ulama) — support Islamization strongly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82696" y="3675888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Lawyers oppose martial law &amp; shariah courts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82696" y="4215384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desire democratic participation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71616" y="1188720"/>
            <a:ext cx="2788920" cy="3657600"/>
          </a:xfrm>
          <a:prstGeom prst="rect">
            <a:avLst/>
          </a:prstGeom>
          <a:solidFill>
            <a:srgbClr val="11253A"/>
          </a:solidFill>
          <a:ln w="25400">
            <a:solidFill>
              <a:srgbClr val="0E66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71616" y="1188720"/>
            <a:ext cx="2788920" cy="47548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11887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CLASS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63056" y="17190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Apathetic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81344" y="2057400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Industrial workers — strikes banned, wages rose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81344" y="2596896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Low-level government workers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81344" y="3136392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Traditional artisans &amp; manual laborers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81344" y="3675888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Urban marginals — most volatile group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81344" y="4215384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Overseas Gulf employment reduced discontent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Urban classes neither strongly supported nor actively opposed Zia — political apathy prevailed.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WOMEN &amp; STUDENTS: URBAN POLITICAL ACTORS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384048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475488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WOMEN IN POLITICS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6576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historical roles: </a:t>
            </a:r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Jinnah challenged Ayub in 1965 election
</a:t>
            </a:r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leadership: </a:t>
            </a:r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Nusrat and Benazir Bhutto led opposition to Zia
</a:t>
            </a:r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Islamization backlash: </a:t>
            </a:r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barristers arrested; protests against Evidence Law equating one man's testimony to two women's
</a:t>
            </a:r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elections: </a:t>
            </a:r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elected as district counselors in 1979 &amp; 1983
</a:t>
            </a:r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upper/upper-middle class women were politically active. Research remained thin.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384048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023360" cy="47548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144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POLITICS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481328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loyalties: </a:t>
            </a:r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Jamaat-i-Islami-aligned students vs PPP-aligned organizations
</a:t>
            </a:r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conflict: </a:t>
            </a:r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confrontations between rival student groups at Punjab University
</a:t>
            </a:r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purges: </a:t>
            </a:r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 penalized — some fired for calling Jinnah by name rather than 'Quaid-i-Azam'
</a:t>
            </a:r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Islamist dominance: </a:t>
            </a:r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Right-wing groups controlled campus politics; banned in early 1984 along with all student unions
</a:t>
            </a:r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stance: </a:t>
            </a:r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politically apathetic — neither strongly supporting nor opposing Zia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unions were the last stronghold of partisan activity — banned by Zia in early 1984.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RURAL GROUPS &amp; STABILITY OF THE ZIA REGIME  —  Kennedy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011680" cy="914400"/>
          </a:xfrm>
          <a:prstGeom prst="rect">
            <a:avLst/>
          </a:prstGeom>
          <a:solidFill>
            <a:srgbClr val="11253A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22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population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(1981 census)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50592" y="804672"/>
            <a:ext cx="2011680" cy="914400"/>
          </a:xfrm>
          <a:prstGeom prst="rect">
            <a:avLst/>
          </a:prstGeom>
          <a:solidFill>
            <a:srgbClr val="11253A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42032" y="822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42032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population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1972–1981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81144" y="804672"/>
            <a:ext cx="2011680" cy="914400"/>
          </a:xfrm>
          <a:prstGeom prst="rect">
            <a:avLst/>
          </a:prstGeom>
          <a:solidFill>
            <a:srgbClr val="11253A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2584" y="822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2/3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72584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labor force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agriculture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11696" y="804672"/>
            <a:ext cx="2011680" cy="914400"/>
          </a:xfrm>
          <a:prstGeom prst="rect">
            <a:avLst/>
          </a:prstGeom>
          <a:solidFill>
            <a:srgbClr val="11253A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822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03136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types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(Kennedy typology)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874520"/>
            <a:ext cx="4114800" cy="2971800"/>
          </a:xfrm>
          <a:prstGeom prst="rect">
            <a:avLst/>
          </a:prstGeom>
          <a:solidFill>
            <a:srgbClr val="11253A"/>
          </a:solidFill>
          <a:ln w="12700">
            <a:solidFill>
              <a:srgbClr val="0E8D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1938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KENNEDY'S DISTRICT TYPOLOGY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109728" cy="45720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377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Peasant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2578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farms + HIGH mechanization | Highest unrest potential (Lahore, Faisalabad)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980944"/>
            <a:ext cx="109728" cy="45720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980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Zamindar Capitalist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31821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farms + HIGH mechanization | More stable, landlord-dominated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584448"/>
            <a:ext cx="109728" cy="45720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584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Peasant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37856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farms + LOW mechanization | Moderate potential, organizational limits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187952"/>
            <a:ext cx="109728" cy="45720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187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Zamindar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" y="4389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farms + LOW mechanization | Most quiescent — personalized control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1874520"/>
            <a:ext cx="4114800" cy="2971800"/>
          </a:xfrm>
          <a:prstGeom prst="rect">
            <a:avLst/>
          </a:prstGeom>
          <a:solidFill>
            <a:srgbClr val="11253A"/>
          </a:solidFill>
          <a:ln w="12700">
            <a:solidFill>
              <a:srgbClr val="E05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1938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RURAL DYNAMICS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2377440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Sind: Most disaffected — Bhutto's legacy, PPP stronghold, hari riots, MRD disturbances (1983)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2944368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Punjab &amp; NWFP: Relatively calm despite rapid transformation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511296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Safety valve: Gulf labor migration absorbed Punjab/NWFP landless workers ($2.85B remittances, 1984)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4078224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Military benefits: Recruits from 'middle peasant' districts — Zia lavished exservicemen with land &amp; jobs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645152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Islamization: Zakat councils reinforced rural notables' power; Shia communities alienated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5212080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Long-term risk: Declining Middle East labor demand threatens rural stability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RURAL UNREST: THE SIND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 became the most disaffected province — four major episodes of rural unrest since 1977: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60520" cy="1554480"/>
          </a:xfrm>
          <a:prstGeom prst="rect">
            <a:avLst/>
          </a:prstGeom>
          <a:solidFill>
            <a:srgbClr val="0D2B3E"/>
          </a:solidFill>
          <a:ln w="25400">
            <a:solidFill>
              <a:srgbClr val="E05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594360" cy="155448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013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3075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MRD Disturbance (1983)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67335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for Restoration of Democracy called national strikes. Greatest impact in Larkana, Dadu, Nawabshah, Khairpur, Hyderabad — core PPP districts. Hundreds of MRD leaders arrested.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160520" cy="1554480"/>
          </a:xfrm>
          <a:prstGeom prst="rect">
            <a:avLst/>
          </a:prstGeom>
          <a:solidFill>
            <a:srgbClr val="0D2B3E"/>
          </a:solidFill>
          <a:ln w="254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34440"/>
            <a:ext cx="594360" cy="155448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8013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13075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Riots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67335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Sindhi peasant (hari) agitation against landlord dominance. Centered on land tenure and PPP political grievances. Atrocities reported by landlords, haris, and police alike.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160520" cy="1554480"/>
          </a:xfrm>
          <a:prstGeom prst="rect">
            <a:avLst/>
          </a:prstGeom>
          <a:solidFill>
            <a:srgbClr val="0D2B3E"/>
          </a:solidFill>
          <a:ln w="25400">
            <a:solidFill>
              <a:srgbClr val="6C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594360" cy="1554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9300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29992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Nawabpur Incident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36499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landlords stripped a tenant's wife and daughters and paraded them publicly. Became a cause célèbre of women's movement. Zia issued Criminal Law Amendment Ordinance (1984) making such acts punishable by death.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4160520" cy="1554480"/>
          </a:xfrm>
          <a:prstGeom prst="rect">
            <a:avLst/>
          </a:prstGeom>
          <a:solidFill>
            <a:srgbClr val="0D2B3E"/>
          </a:solidFill>
          <a:ln w="254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926080"/>
            <a:ext cx="594360" cy="1554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49300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29992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Dacoit Disturbances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336499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Hyderabad landlords arrested for harboring criminals. Thori Incident — three Sind University students killed by police. Government framed as organized crime and landlord complicity.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Sindhi identity politics + Bhutto legacy + rapid social transformation = persistent instability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2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PAKISTAN'S ECONOMIC PERFORMANCE  —  Adams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4023360"/>
          </a:xfrm>
          <a:prstGeom prst="rect">
            <a:avLst/>
          </a:prstGeom>
          <a:solidFill>
            <a:srgbClr val="0D2535"/>
          </a:solidFill>
          <a:ln w="254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9748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AYUB ERA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1960–1969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9768" y="1481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Growth: ~6% GDP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9019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Heavy industrialization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2450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Green Revolution begins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growth in textiles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35478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Elite-biased distribution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40965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 to mass disenchantment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822960"/>
            <a:ext cx="2697480" cy="4023360"/>
          </a:xfrm>
          <a:prstGeom prst="rect">
            <a:avLst/>
          </a:prstGeom>
          <a:solidFill>
            <a:srgbClr val="0D2535"/>
          </a:solidFill>
          <a:ln w="25400">
            <a:solidFill>
              <a:srgbClr val="6C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822960"/>
            <a:ext cx="2697480" cy="5943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8229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BHUTTO ERA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1972–1977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64408" y="1481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Growth: ~4–5% GDP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64408" y="19019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Nationalized industries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64408" y="2450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Strengthened labor rights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64408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 reform attempts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64408" y="35478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Foreign exchange strain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64408" y="40965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 growth, alienated elites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89320" y="822960"/>
            <a:ext cx="2697480" cy="4023360"/>
          </a:xfrm>
          <a:prstGeom prst="rect">
            <a:avLst/>
          </a:prstGeom>
          <a:solidFill>
            <a:srgbClr val="0D2535"/>
          </a:solidFill>
          <a:ln w="25400">
            <a:solidFill>
              <a:srgbClr val="0E66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822960"/>
            <a:ext cx="2697480" cy="59436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8229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ZIA ERA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1978–1985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099048" y="1481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Growth: ~6% GDP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99048" y="19019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Gulf remittances ($2.85B, 1984)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99048" y="2450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Agricultural self-sufficiency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99048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Private sector cautiously favored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99048" y="35478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Sixth Five-Year Plan (1983–88)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99048" y="40965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Cotton crisis managed (1983–84)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Zia succeeded not through coherent policy but through pragmatic compromise — 'capitalist-socialist-Islamic' hybrid that avoided alienating key groups.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POTENTIAL ECONOMIC SOURCES OF INSTABILITY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2697480" cy="1828800"/>
          </a:xfrm>
          <a:prstGeom prst="rect">
            <a:avLst/>
          </a:prstGeom>
          <a:solidFill>
            <a:srgbClr val="0D2B3E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987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Ideological Extremism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389888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economic liberalization would alienate labor, small businessmen, and bureaucrats. Islamic banking (1985 full implementation) risked disorienting investors. Needs pragmatic balance.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914400"/>
            <a:ext cx="2697480" cy="1828800"/>
          </a:xfrm>
          <a:prstGeom prst="rect">
            <a:avLst/>
          </a:prstGeom>
          <a:solidFill>
            <a:srgbClr val="0D2B3E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64408" y="987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Remittance Dependency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64408" y="1389888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Remittances peaked at ~$3B (1984) and began declining as Gulf oil prices fell. Returning migrant workers risk becoming disaffected — threatening rural &amp; urban stability.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914400"/>
            <a:ext cx="2697480" cy="1828800"/>
          </a:xfrm>
          <a:prstGeom prst="rect">
            <a:avLst/>
          </a:prstGeom>
          <a:solidFill>
            <a:srgbClr val="0D2B3E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99048" y="987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Low Domestic Savings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48" y="1389888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savings rate only 7–8% vs India's 20%+. Private sector slow to invest despite liberalization gestures. Public sector still carries bulk of investment burden.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2697480" cy="1828800"/>
          </a:xfrm>
          <a:prstGeom prst="rect">
            <a:avLst/>
          </a:prstGeom>
          <a:solidFill>
            <a:srgbClr val="0D2B3E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" y="2953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Regionalism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3355848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Punjabi domination resented in Sind, Baluchistan, and NWFP. Regional economic disparities widened. Ethnic-regional rivalry potentially more explosive than intergroup tensions.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2880360"/>
            <a:ext cx="2697480" cy="1828800"/>
          </a:xfrm>
          <a:prstGeom prst="rect">
            <a:avLst/>
          </a:prstGeom>
          <a:solidFill>
            <a:srgbClr val="0D2B3E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64408" y="2953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Infrastructure Deficit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64408" y="3355848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power shortages. Transportation bottlenecks. Limited hydrocarbon reserves. Double-digit electricity growth needed to sustain industrial expansion.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2880360"/>
            <a:ext cx="2697480" cy="1828800"/>
          </a:xfrm>
          <a:prstGeom prst="rect">
            <a:avLst/>
          </a:prstGeom>
          <a:solidFill>
            <a:srgbClr val="0D2B3E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99048" y="2953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🏕  Afghan Refugees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9048" y="3355848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Afghan refugees strain public services and labor markets. Risk of taking local jobs and land. Military costs of Afghan border situation impose fiscal pressure.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MILITARY IN GOVERNMENT  —  Rodney W. Jones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3977640"/>
          </a:xfrm>
          <a:prstGeom prst="rect">
            <a:avLst/>
          </a:prstGeom>
          <a:solidFill>
            <a:srgbClr val="0D2535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86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EXPANSION UNDER ZIA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Forces Size (1982)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910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478,000 personnel (+12% post-Soviet invasion)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Budget (1981)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756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$1.857B — up 168% from 1974 in dollar terms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in Civil Admin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of top 35–40 federal bureaucratic posts occupied by officers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8254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Fauji Foundation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449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 welfare body expanded into industrial conglomerate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3101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Logistics Cell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5295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Military-run trucking network competing with private sector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detail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142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 Pakistani troops on contract for Saudi internal security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2793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Ayub comparison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988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Ayub limited military-civil overlap; Zia made it pervasive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822960"/>
            <a:ext cx="4206240" cy="3977640"/>
          </a:xfrm>
          <a:prstGeom prst="rect">
            <a:avLst/>
          </a:prstGeom>
          <a:solidFill>
            <a:srgbClr val="0D2535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88696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SOCIAL BASE OF OFFICERS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54880" y="1353312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Previously: </a:t>
            </a:r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from landed rural gentry and urban upper-middle class
</a:t>
            </a:r>
            <a:pPr indent="0" marL="0">
              <a:buNone/>
            </a:pPr>
            <a:r>
              <a:rPr lang="en-US" sz="1050" b="1" dirty="0">
                <a:solidFill>
                  <a:srgbClr val="0E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under Zia: </a:t>
            </a:r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 recruits from small towns, lower-middle class; less westernized, more religiously conservative
</a:t>
            </a:r>
            <a:pPr indent="0" marL="0">
              <a:buNone/>
            </a:pPr>
            <a:r>
              <a:rPr lang="en-US" sz="1050" b="1" dirty="0">
                <a:solidFill>
                  <a:srgbClr val="0E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 exemplifies: </a:t>
            </a:r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Middle-class Jullundur family background; appointed over senior officers by Bhutto himself
</a:t>
            </a:r>
            <a:pPr indent="0" marL="0">
              <a:buNone/>
            </a:pPr>
            <a:r>
              <a:rPr lang="en-US" sz="1050" b="1" dirty="0">
                <a:solidFill>
                  <a:srgbClr val="0E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Implications: </a:t>
            </a:r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officers more loyal and satisfied; less inclined to challenge Zia. Islamic fundamentalist coups attempted by fringe elements.
</a:t>
            </a:r>
            <a:pPr indent="0" marL="0">
              <a:buNone/>
            </a:pPr>
            <a:r>
              <a:rPr lang="en-US" sz="1050" b="1" dirty="0">
                <a:solidFill>
                  <a:srgbClr val="0E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Cooptation strategy: </a:t>
            </a:r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satisfied through better pay, overseas postings, land grants, and administrative posts — not just professional advancement.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DILEMMAS: PAKISTAN AS A FRONTLINE STATE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8503920" cy="914400"/>
          </a:xfrm>
          <a:prstGeom prst="rect">
            <a:avLst/>
          </a:prstGeom>
          <a:solidFill>
            <a:srgbClr val="0D2B3E"/>
          </a:solidFill>
          <a:ln w="12700">
            <a:solidFill>
              <a:srgbClr val="E05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1645920" cy="91440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Soviet Union / Afghanistan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57400" y="1024128"/>
            <a:ext cx="6629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Soviet invasion (Dec 1979) transformed Pakistan's security environment. Proximity of Soviet power narrowed political debate and justified prolonging martial law. Aircraft intrusions increased from 1983.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8503920" cy="914400"/>
          </a:xfrm>
          <a:prstGeom prst="rect">
            <a:avLst/>
          </a:prstGeom>
          <a:solidFill>
            <a:srgbClr val="0D2B3E"/>
          </a:solidFill>
          <a:ln w="12700">
            <a:solidFill>
              <a:srgbClr val="7D3C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38528"/>
            <a:ext cx="1645920" cy="9144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299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41401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2048256"/>
            <a:ext cx="6629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Indo-Pak rivalry over Kashmir unresolved. Pakistan fears Indian incitement of Sindhi/Baluchi secessionism. India fears Pakistani support for Sikh extremism in Punjab. Both nations joined SARC but relations remained strained.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62656"/>
            <a:ext cx="8503920" cy="914400"/>
          </a:xfrm>
          <a:prstGeom prst="rect">
            <a:avLst/>
          </a:prstGeom>
          <a:solidFill>
            <a:srgbClr val="0D2B3E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62656"/>
            <a:ext cx="1645920" cy="91440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5409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Secessionism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43814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57400" y="3072384"/>
            <a:ext cx="6629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NWFP (Pashtun), Baluchistan (Baluch/Brahui), and Sind (Sindhi) harbor secessionist sentiments. No internal force alone could break Pakistan — external sponsorship (India, USSR) required.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986784"/>
            <a:ext cx="8503920" cy="914400"/>
          </a:xfrm>
          <a:prstGeom prst="rect">
            <a:avLst/>
          </a:prstGeom>
          <a:solidFill>
            <a:srgbClr val="0D2B3E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986784"/>
            <a:ext cx="1645920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7822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Proliferation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4622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57400" y="4096512"/>
            <a:ext cx="6629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tested nuclear device in 1974. Pakistan reportedly achieved nuclear capability in 1984. Regional arms race threatened to intensify Indo-Pakistani rivalry and complicate diplomacy.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50749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Soviet invasion was a political gift to Zia — it justified postponing civilian rule and secured massive external aid.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EFFECT OF AFGHAN REFUGEES ON PAKISTAN  —  Farr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011680" cy="914400"/>
          </a:xfrm>
          <a:prstGeom prst="rect">
            <a:avLst/>
          </a:prstGeom>
          <a:solidFill>
            <a:srgbClr val="3D1C08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22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3M+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Afghan refugees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Pakistan (1985)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50592" y="804672"/>
            <a:ext cx="2011680" cy="914400"/>
          </a:xfrm>
          <a:prstGeom prst="rect">
            <a:avLst/>
          </a:prstGeom>
          <a:solidFill>
            <a:srgbClr val="3D1C08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42032" y="822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NWFP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42032" y="1298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affected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81144" y="804672"/>
            <a:ext cx="2011680" cy="914400"/>
          </a:xfrm>
          <a:prstGeom prst="rect">
            <a:avLst/>
          </a:prstGeom>
          <a:solidFill>
            <a:srgbClr val="3D1C08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2584" y="822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Peshawar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72584" y="1298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Refugee population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significantly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11696" y="804672"/>
            <a:ext cx="2011680" cy="914400"/>
          </a:xfrm>
          <a:prstGeom prst="rect">
            <a:avLst/>
          </a:prstGeom>
          <a:solidFill>
            <a:srgbClr val="3D1C08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822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$1B+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03136" y="1298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international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for refugees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874520"/>
            <a:ext cx="2697480" cy="2926080"/>
          </a:xfrm>
          <a:prstGeom prst="rect">
            <a:avLst/>
          </a:prstGeom>
          <a:solidFill>
            <a:srgbClr val="0D2535"/>
          </a:solidFill>
          <a:ln w="25400">
            <a:solidFill>
              <a:srgbClr val="8B45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874520"/>
            <a:ext cx="2697480" cy="4572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Effects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2423160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Strengthened Zia's position as frontline state leader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9768" y="2990088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Justified continued martial law on security grounds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9768" y="3557016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NWFP Pushtunistan independence movement quieted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" y="4123944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 dependency on US &amp; Western aid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54680" y="1874520"/>
            <a:ext cx="2697480" cy="2926080"/>
          </a:xfrm>
          <a:prstGeom prst="rect">
            <a:avLst/>
          </a:prstGeom>
          <a:solidFill>
            <a:srgbClr val="0D2535"/>
          </a:solidFill>
          <a:ln w="254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1874520"/>
            <a:ext cx="269748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Effects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64408" y="2423160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Refugees compete for jobs/land in NWFP &amp; Baluchistan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64408" y="2990088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Aid inflows offset some fiscal costs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64408" y="3557016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Drug trade (heroin/opium via Afghanistan) grew significantly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64408" y="4123944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Arms smuggling through Pakistan routes expanded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1874520"/>
            <a:ext cx="2697480" cy="2926080"/>
          </a:xfrm>
          <a:prstGeom prst="rect">
            <a:avLst/>
          </a:prstGeom>
          <a:solidFill>
            <a:srgbClr val="0D2535"/>
          </a:solidFill>
          <a:ln w="25400">
            <a:solidFill>
              <a:srgbClr val="0E66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1874520"/>
            <a:ext cx="2697480" cy="45720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Security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99048" y="2423160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Cultural tensions in Peshawar &amp; Quetta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99048" y="2990088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Mujahidin supply lines pass through Pakistani territory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99048" y="3557016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Soviet aircraft incursions into Pakistani airspace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099048" y="4123944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of Afghan war 'spillover' into Pakistan's borders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Afghan refugee crisis was both a burden and a political asset for Zia — cementing his role as a Western-aligned frontline state.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ZIA'S COALITION-BUILDING &amp; COOPTATION STRATEGIES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Baxter: 'Like any political figure, Zia must build coalitions — rewarding, stimulating, and even coercing those whose opposition seems dangerous.'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697480" cy="1600200"/>
          </a:xfrm>
          <a:prstGeom prst="rect">
            <a:avLst/>
          </a:prstGeom>
          <a:solidFill>
            <a:srgbClr val="0D2B3E"/>
          </a:solidFill>
          <a:ln w="254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109728" cy="160020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99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Cooptation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1208" y="176479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Embraced Jamaat-i-Islami and conservative clerics through Islamization program. Created moral legitimacy for regime among traditionalists. Appointed Islamic scholars to advisory councils.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325880"/>
            <a:ext cx="2697480" cy="1600200"/>
          </a:xfrm>
          <a:prstGeom prst="rect">
            <a:avLst/>
          </a:prstGeom>
          <a:solidFill>
            <a:srgbClr val="0D2B3E"/>
          </a:solidFill>
          <a:ln w="254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325880"/>
            <a:ext cx="109728" cy="1600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399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Satisfaction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55848" y="176479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given civil posts, land grants, industrial jobs via Fauji Foundation. Military benefits tied to key recruiting districts. ~20,000 troops on lucrative Saudi Arabia contracts.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2697480" cy="1600200"/>
          </a:xfrm>
          <a:prstGeom prst="rect">
            <a:avLst/>
          </a:prstGeom>
          <a:solidFill>
            <a:srgbClr val="0D2B3E"/>
          </a:solidFill>
          <a:ln w="25400">
            <a:solidFill>
              <a:srgbClr val="6C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325880"/>
            <a:ext cx="109728" cy="16002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399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Elite Appeasement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90488" y="176479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Pledged no nationalization; encouraged denationalization. Appointed landed elite and industrialists to Majlis-i-Shura. Let foreign goods flow freely into city bazaars.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2697480" cy="1600200"/>
          </a:xfrm>
          <a:prstGeom prst="rect">
            <a:avLst/>
          </a:prstGeom>
          <a:solidFill>
            <a:srgbClr val="0D2B3E"/>
          </a:solidFill>
          <a:ln w="25400">
            <a:solidFill>
              <a:srgbClr val="0E66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63240"/>
            <a:ext cx="109728" cy="160020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136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Pragmatism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1208" y="350215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 pure ideology — neither fully socialist nor fully liberal. Gulf remittances absorbed rural discontent. Agricultural input subsidies kept farmers relatively prosperous.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3063240"/>
            <a:ext cx="2697480" cy="1600200"/>
          </a:xfrm>
          <a:prstGeom prst="rect">
            <a:avLst/>
          </a:prstGeom>
          <a:solidFill>
            <a:srgbClr val="0D2B3E"/>
          </a:solidFill>
          <a:ln w="25400">
            <a:solidFill>
              <a:srgbClr val="E05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3063240"/>
            <a:ext cx="109728" cy="160020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136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Repression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55848" y="350215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Coercion mostly psychological/economic rather than violent. Avoided personalized or vindictive punishment. MRD leaders detained — not massacred. Only in Sind was alienation severe.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3063240"/>
            <a:ext cx="2697480" cy="1600200"/>
          </a:xfrm>
          <a:prstGeom prst="rect">
            <a:avLst/>
          </a:prstGeom>
          <a:solidFill>
            <a:srgbClr val="0D2B3E"/>
          </a:solidFill>
          <a:ln w="25400">
            <a:solidFill>
              <a:srgbClr val="8B45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3063240"/>
            <a:ext cx="109728" cy="16002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3136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Bodies System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90488" y="350215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union, tehsil, and district councils (1979, 1983). Appeared participatory but reinforced traditional landed notables. Excluded former politicians from candidacy.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ISLAMIZATION: THE NIZAM-I-MUSTAFA PROGRAM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Zia's most distinctive departure: Transforming Pakistan from a Western parliamentary model into an Islamic state guided by Nizam-i-Mustafa (Rule of the Prophet).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754880" cy="3566160"/>
          </a:xfrm>
          <a:prstGeom prst="rect">
            <a:avLst/>
          </a:prstGeom>
          <a:solidFill>
            <a:srgbClr val="0D2535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MEASURES IMPLEMENTED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Zakat (2.5% wealth tax) &amp; Ushr (5% agricultural profit tax) — 1980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130552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Shariah courts established alongside regular courts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Interest-free Islamic banking (full implementation 1985)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Hadd punishments for theft/adultery (whipping implemented; amputation not carried out)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255264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Evidence law: two women's testimony = one man's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630168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Pre-emption legislation proposed: land reform laws declared repugnant to Islam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005072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Jamaat-i-Islami given key government positions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379976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Quran &amp; Sunnah made basis for constitutional amendments (8th Amendment, 1985)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49240" y="1261872"/>
            <a:ext cx="3474720" cy="3566160"/>
          </a:xfrm>
          <a:prstGeom prst="rect">
            <a:avLst/>
          </a:prstGeom>
          <a:solidFill>
            <a:srgbClr val="0D2535"/>
          </a:solidFill>
          <a:ln w="12700">
            <a:solidFill>
              <a:srgbClr val="E05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1325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REACTIONS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0" y="17556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Sunni Clerics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19751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Praised piety &amp; Islamic law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0" y="21945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Shia Community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24140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Compulsory zakat violated Shia jurisprudence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0" y="26334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2852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Shariah courts undermine rule of law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0" y="30723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Groups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law, family law rollbacks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0" y="35112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Areas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37307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outlook, clerical influence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0" y="39502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Middle Class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41696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Modernists oppose; traditional segments support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0" y="43891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World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46085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punishments seen as backward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Islamization served multiple purposes: political legitimacy, allied with Jamaat-i-Islami, and distinguished Zia from secular predecessors.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1985 PARTYLESS ELECTIONS: KEY POLITICAL MOMENT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8503920" cy="749808"/>
          </a:xfrm>
          <a:prstGeom prst="rect">
            <a:avLst/>
          </a:prstGeom>
          <a:solidFill>
            <a:srgbClr val="0D2B3E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96112"/>
            <a:ext cx="1371600" cy="749808"/>
          </a:xfrm>
          <a:prstGeom prst="rect">
            <a:avLst/>
          </a:prstGeom>
          <a:solidFill>
            <a:srgbClr val="0A6B8A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2471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19, 1984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950976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Referendum on Islamization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1243584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claims 61% turnout, 97.71% yes — widely disputed. Served to legitimize Zia as president for 5-year term.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8503920" cy="749808"/>
          </a:xfrm>
          <a:prstGeom prst="rect">
            <a:avLst/>
          </a:prstGeom>
          <a:solidFill>
            <a:srgbClr val="0D2B3E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37360"/>
            <a:ext cx="1371600" cy="749808"/>
          </a:xfrm>
          <a:prstGeom prst="rect">
            <a:avLst/>
          </a:prstGeom>
          <a:solidFill>
            <a:srgbClr val="7D6608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9659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12, 1985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1792224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Announced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2084832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 announces Feb 25 national elections. Partyless basis. Ban on former politicians relaxed on Jan 13.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578608"/>
            <a:ext cx="8503920" cy="749808"/>
          </a:xfrm>
          <a:prstGeom prst="rect">
            <a:avLst/>
          </a:prstGeom>
          <a:solidFill>
            <a:srgbClr val="0D2B3E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78608"/>
            <a:ext cx="1371600" cy="749808"/>
          </a:xfrm>
          <a:prstGeom prst="rect">
            <a:avLst/>
          </a:prstGeom>
          <a:solidFill>
            <a:srgbClr val="0A6B8A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80720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1985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2633472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MRD Boycott Decision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83080" y="2926080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11-party Movement for Restoration of Democracy (MRD) announces boycott. Members barred from running.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419856"/>
            <a:ext cx="8503920" cy="749808"/>
          </a:xfrm>
          <a:prstGeom prst="rect">
            <a:avLst/>
          </a:prstGeom>
          <a:solidFill>
            <a:srgbClr val="0D2B3E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419856"/>
            <a:ext cx="1371600" cy="749808"/>
          </a:xfrm>
          <a:prstGeom prst="rect">
            <a:avLst/>
          </a:prstGeom>
          <a:solidFill>
            <a:srgbClr val="7D6608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648456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25, 1985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347472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Assembly Elections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83080" y="376732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claims 52% turnout. MRD boycott mostly unsuccessful — goal was &lt;10% turnout. 7 cabinet members lost.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261104"/>
            <a:ext cx="8503920" cy="749808"/>
          </a:xfrm>
          <a:prstGeom prst="rect">
            <a:avLst/>
          </a:prstGeom>
          <a:solidFill>
            <a:srgbClr val="0D2B3E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261104"/>
            <a:ext cx="1371600" cy="749808"/>
          </a:xfrm>
          <a:prstGeom prst="rect">
            <a:avLst/>
          </a:prstGeom>
          <a:solidFill>
            <a:srgbClr val="0A6B8A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489704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28, 1985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83080" y="431596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Assembly Elections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83080" y="4608576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Rural/working class areas exceeded 40% turnout. Random checks showed 20–50% range across polling stations.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51023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Ambassador Hinton: 'The election was a major step on the road to establishing democratic representative institutions.' — though opposition arrests were noted.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LEGITIMACY FOR ZIA AND HIS REGIME?  —  Baxter's Conclusion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325880"/>
          </a:xfrm>
          <a:prstGeom prst="rect">
            <a:avLst/>
          </a:prstGeom>
          <a:solidFill>
            <a:srgbClr val="11253A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41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896112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ED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Zia's success in retaining power is not based on his personal charisma or popularity. Rather, circumstances have been kind to him.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Craig Baxter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267712"/>
            <a:ext cx="4069080" cy="2606040"/>
          </a:xfrm>
          <a:prstGeom prst="rect">
            <a:avLst/>
          </a:prstGeom>
          <a:solidFill>
            <a:srgbClr val="0E4020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331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OF LEGITIMACY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6% annual economic growth — widespread benefit distribution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Gulf remittances ($2–3B/year) kept workers satisfied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284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Soviet Afghan threat silenced political opposition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210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Islamization gave moral/religious legitimacy claim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9136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Cooptation of key elites — military, clergy, landlords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Local Bodies Elections (1979, 1983) provided limited participation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4988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1985 elections — turnout interpreted as some endorsement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267712"/>
            <a:ext cx="4069080" cy="2606040"/>
          </a:xfrm>
          <a:prstGeom prst="rect">
            <a:avLst/>
          </a:prstGeom>
          <a:solidFill>
            <a:srgbClr val="3D0808"/>
          </a:solidFill>
          <a:ln w="12700">
            <a:solidFill>
              <a:srgbClr val="E05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331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LEGITIMACY DEFICITS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7432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Never won a free, competitive election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0358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MRD: 11 parties demanded restoration of 1973 Constitution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3284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Bhutto executed — deeply divided society, especially Sind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210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Professional classes (lawyers, teachers, journalists) opposed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9136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Referendum turnout actually only ~20% (Election Commission sources)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42062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Seven of Zia's cabinet members lost 1985 elections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44988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Military rule 'accepted but never legitimized' — only in Sind severe alienation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ZIA SURVIVE EIGHT YEARS?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identifies six factors behind regime longevity (surpassing the average 5-year life of military regimes):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2697480" cy="1737360"/>
          </a:xfrm>
          <a:prstGeom prst="rect">
            <a:avLst/>
          </a:prstGeom>
          <a:solidFill>
            <a:srgbClr val="0D2B3E"/>
          </a:solidFill>
          <a:ln w="254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353312"/>
            <a:ext cx="384048" cy="384048"/>
          </a:xfrm>
          <a:prstGeom prst="ellipse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Soviet Afghan Invasion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81051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Crystalized threat perceptions, justified martial law, secured massive US/Western aid ($3.2B), silenced opposition as unpatriotic.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261872"/>
            <a:ext cx="2697480" cy="1737360"/>
          </a:xfrm>
          <a:prstGeom prst="rect">
            <a:avLst/>
          </a:prstGeom>
          <a:solidFill>
            <a:srgbClr val="0D2B3E"/>
          </a:solidFill>
          <a:ln w="254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353312"/>
            <a:ext cx="384048" cy="38404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Migration &amp; Remittances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181051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2–2.5M Pakistanis in Middle East; ~$4B annual remittances. Satisfied 25% of Pakistani households — broad diffuse support.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1261872"/>
            <a:ext cx="2697480" cy="1737360"/>
          </a:xfrm>
          <a:prstGeom prst="rect">
            <a:avLst/>
          </a:prstGeom>
          <a:solidFill>
            <a:srgbClr val="0D2B3E"/>
          </a:solidFill>
          <a:ln w="25400">
            <a:solidFill>
              <a:srgbClr val="0E66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99048" y="1353312"/>
            <a:ext cx="384048" cy="384048"/>
          </a:xfrm>
          <a:prstGeom prst="ellipse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904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Military Recruitment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9048" y="181051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from lower-middle class towns: more loyal, religiously conservative, satisfied with military career. Less likely to challenge Zia.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136392"/>
            <a:ext cx="2697480" cy="1737360"/>
          </a:xfrm>
          <a:prstGeom prst="rect">
            <a:avLst/>
          </a:prstGeom>
          <a:solidFill>
            <a:srgbClr val="0D2B3E"/>
          </a:solidFill>
          <a:ln w="25400">
            <a:solidFill>
              <a:srgbClr val="6C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" y="3227832"/>
            <a:ext cx="384048" cy="38404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246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Military Economy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" y="36850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Fauji Foundation, NLC, civil posts for officers — military had institutional stake in Zia's continuation. Nearly 10% of households tied to military economy.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3136392"/>
            <a:ext cx="2697480" cy="1737360"/>
          </a:xfrm>
          <a:prstGeom prst="rect">
            <a:avLst/>
          </a:prstGeom>
          <a:solidFill>
            <a:srgbClr val="0D2B3E"/>
          </a:solidFill>
          <a:ln w="25400">
            <a:solidFill>
              <a:srgbClr val="8B45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3227832"/>
            <a:ext cx="384048" cy="384048"/>
          </a:xfrm>
          <a:prstGeom prst="ellipse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49040" y="3246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Cooptational Politics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64408" y="36850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Islamization for clerics, local bodies for rural notables, economic posts for elites. Graduated — not arbitrary — repression reduced cumulative alienation.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3136392"/>
            <a:ext cx="2697480" cy="1737360"/>
          </a:xfrm>
          <a:prstGeom prst="rect">
            <a:avLst/>
          </a:prstGeom>
          <a:solidFill>
            <a:srgbClr val="0D2B3E"/>
          </a:solidFill>
          <a:ln w="25400">
            <a:solidFill>
              <a:srgbClr val="E05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99048" y="3227832"/>
            <a:ext cx="384048" cy="384048"/>
          </a:xfrm>
          <a:prstGeom prst="ellipse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99048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0" y="3246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Economic Luck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99048" y="36850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 weather, Gulf boom, US aid, absence of major war. Economy grew ~6%/year — the single most important legitimating factor.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D2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OUTLOOK &amp; THE AUTHORS' ANALYTICAL FRAMEWORK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697480" cy="2926080"/>
          </a:xfrm>
          <a:prstGeom prst="rect">
            <a:avLst/>
          </a:prstGeom>
          <a:solidFill>
            <a:srgbClr val="11253A"/>
          </a:solidFill>
          <a:ln w="254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2697480" cy="59436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46304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 continues managing interest groups through cooptation. Economy stays strong. Labor market stable. Scenario: more of the same — depoliticization + stick approach.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Middle peasant districts in Punjab/NWFP destabilize if Gulf labor demand drops.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804672"/>
            <a:ext cx="2697480" cy="2926080"/>
          </a:xfrm>
          <a:prstGeom prst="rect">
            <a:avLst/>
          </a:prstGeom>
          <a:solidFill>
            <a:srgbClr val="11253A"/>
          </a:solidFill>
          <a:ln w="25400">
            <a:solidFill>
              <a:srgbClr val="6C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804672"/>
            <a:ext cx="2697480" cy="5943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8046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Transition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64408" y="146304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 elections signal limited democratization. Parliament + president share power. Military retains veto via National Security Council. 'Viceregal' model replaces pure martial law.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Elected parliament creates channels for opposition Zia cannot fully control.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9320" y="804672"/>
            <a:ext cx="2697480" cy="2926080"/>
          </a:xfrm>
          <a:prstGeom prst="rect">
            <a:avLst/>
          </a:prstGeom>
          <a:solidFill>
            <a:srgbClr val="11253A"/>
          </a:solidFill>
          <a:ln w="25400">
            <a:solidFill>
              <a:srgbClr val="E05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804672"/>
            <a:ext cx="2697480" cy="5943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8046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99048" y="146304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downturn + declining remittances + returning migrants = rural unrest in Punjab/NWFP. Combined with Sind's chronic alienation and political opposition in cities.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Adams: Only disruption of both growth AND equitable distribution could create a 'maelstrom'.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858768"/>
            <a:ext cx="8503920" cy="1005840"/>
          </a:xfrm>
          <a:prstGeom prst="rect">
            <a:avLst/>
          </a:prstGeom>
          <a:solidFill>
            <a:srgbClr val="11253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931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BOOK'S CORE ANALYTICAL FRAMEWORK: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Group Model → Groups shape policy → Policy affects performance → Distribution determines support/opposition → Regime survival = successful coalition management across urban, rural, military, economic, and religious constituencies.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CONCLUSION: BAXTER'S SYNTHESIS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206240" cy="1261872"/>
          </a:xfrm>
          <a:prstGeom prst="rect">
            <a:avLst/>
          </a:prstGeom>
          <a:solidFill>
            <a:srgbClr val="0D2535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548640" cy="1261872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9235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Circumstances Over Charisma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28930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 was not popular or personally charismatic. He survived through fortuitous external events — Afghan crisis, Gulf boom — and skillful manipulation of interest groups.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206240" cy="1261872"/>
          </a:xfrm>
          <a:prstGeom prst="rect">
            <a:avLst/>
          </a:prstGeom>
          <a:solidFill>
            <a:srgbClr val="0D2535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68680"/>
            <a:ext cx="548640" cy="1261872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80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9235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Coalition Imperative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128930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Pakistani leader can survive by coercion alone. Zia built overlapping coalitions: clerics (Islamization), military (benefits), rural notables (local bodies), elites (economic pragmatism).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258568"/>
            <a:ext cx="4206240" cy="1261872"/>
          </a:xfrm>
          <a:prstGeom prst="rect">
            <a:avLst/>
          </a:prstGeom>
          <a:solidFill>
            <a:srgbClr val="0D2535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58568"/>
            <a:ext cx="548640" cy="1261872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700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313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as Stabilizer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67919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~6% growth was the single most important factor preventing urban/rural revolt. Equitable distribution mattered as much as aggregate growth. Economic failure would have doomed the regime.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58568"/>
            <a:ext cx="4206240" cy="1261872"/>
          </a:xfrm>
          <a:prstGeom prst="rect">
            <a:avLst/>
          </a:prstGeom>
          <a:solidFill>
            <a:srgbClr val="0D2535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58568"/>
            <a:ext cx="548640" cy="1261872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6700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2313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Vulnerabilities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267919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transformation (rising landlessness), declining Gulf labor demand, Sindhi alienation, Baluchi grievances, and nuclear tensions represented ticking clocks for any successor regime.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648456"/>
            <a:ext cx="4206240" cy="1261872"/>
          </a:xfrm>
          <a:prstGeom prst="rect">
            <a:avLst/>
          </a:prstGeom>
          <a:solidFill>
            <a:srgbClr val="0D2535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48456"/>
            <a:ext cx="548640" cy="1261872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0599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703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Contested Legitimacy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069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rule was 'accepted but not endorsed.' The 1985 elections — partyless, boycotted, disputed — showed both the limits of Zia's legitimacy and the desire for political participation.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48456"/>
            <a:ext cx="4206240" cy="1261872"/>
          </a:xfrm>
          <a:prstGeom prst="rect">
            <a:avLst/>
          </a:prstGeom>
          <a:solidFill>
            <a:srgbClr val="0D2535"/>
          </a:solidFill>
          <a:ln w="12700">
            <a:solidFill>
              <a:srgbClr val="0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48456"/>
            <a:ext cx="548640" cy="1261872"/>
          </a:xfrm>
          <a:prstGeom prst="rect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0599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3703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Frontier State's Paradox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4069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frontline status was both a threat and an asset. The Soviet Afghan invasion justified authoritarianism while securing the external aid that sustained economic growth.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5047488"/>
            <a:ext cx="8503920" cy="320040"/>
          </a:xfrm>
          <a:prstGeom prst="rect">
            <a:avLst/>
          </a:prstGeom>
          <a:solidFill>
            <a:srgbClr val="11253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5084064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urban and rural classes neither strongly supported nor strongly opposed Zia — and in a country without free elections, that was enough to survive." — Paraphrase of Baxter's synthesis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Zia's Pakistan: Politics and Stability in a Frontline State</dc:title>
  <dc:subject>PptxGenJS Presentation</dc:subject>
  <dc:creator>PptxGenJS</dc:creator>
  <cp:lastModifiedBy>PptxGenJS</cp:lastModifiedBy>
  <cp:revision>1</cp:revision>
  <dcterms:created xsi:type="dcterms:W3CDTF">2026-05-03T10:20:06Z</dcterms:created>
  <dcterms:modified xsi:type="dcterms:W3CDTF">2026-05-03T10:20:06Z</dcterms:modified>
</cp:coreProperties>
</file>